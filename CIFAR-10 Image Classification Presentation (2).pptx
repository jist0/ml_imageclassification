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image" Target="../media/image44.png"/><Relationship Id="rId20" Type="http://schemas.openxmlformats.org/officeDocument/2006/relationships/image" Target="../media/image45.png"/><Relationship Id="rId21" Type="http://schemas.openxmlformats.org/officeDocument/2006/relationships/image" Target="../media/image46.png"/><Relationship Id="rId22" Type="http://schemas.openxmlformats.org/officeDocument/2006/relationships/image" Target="../media/image47.png"/><Relationship Id="rId23" Type="http://schemas.openxmlformats.org/officeDocument/2006/relationships/image" Target="../media/image48.png"/><Relationship Id="rId24" Type="http://schemas.openxmlformats.org/officeDocument/2006/relationships/image" Target="../media/image49.png"/><Relationship Id="rId25" Type="http://schemas.openxmlformats.org/officeDocument/2006/relationships/image" Target="../media/image50.png"/><Relationship Id="rId26" Type="http://schemas.openxmlformats.org/officeDocument/2006/relationships/image" Target="../media/image51.png"/><Relationship Id="rId27" Type="http://schemas.openxmlformats.org/officeDocument/2006/relationships/image" Target="../media/image52.png"/><Relationship Id="rId28" Type="http://schemas.openxmlformats.org/officeDocument/2006/relationships/image" Target="../media/image53.png"/><Relationship Id="rId29" Type="http://schemas.openxmlformats.org/officeDocument/2006/relationships/image" Target="../media/image54.png"/><Relationship Id="rId30" Type="http://schemas.openxmlformats.org/officeDocument/2006/relationships/image" Target="../media/image55.png"/><Relationship Id="rId31" Type="http://schemas.openxmlformats.org/officeDocument/2006/relationships/image" Target="../media/image56.png"/><Relationship Id="rId32" Type="http://schemas.openxmlformats.org/officeDocument/2006/relationships/image" Target="../media/image57.png"/><Relationship Id="rId33" Type="http://schemas.openxmlformats.org/officeDocument/2006/relationships/image" Target="../media/image27.png"/><Relationship Id="rId34" Type="http://schemas.openxmlformats.org/officeDocument/2006/relationships/image" Target="../media/image58.png"/><Relationship Id="rId35" Type="http://schemas.openxmlformats.org/officeDocument/2006/relationships/image" Target="../media/image5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98.png"/><Relationship Id="rId15" Type="http://schemas.openxmlformats.org/officeDocument/2006/relationships/image" Target="../media/image99.png"/><Relationship Id="rId16" Type="http://schemas.openxmlformats.org/officeDocument/2006/relationships/image" Target="../media/image100.png"/><Relationship Id="rId17" Type="http://schemas.openxmlformats.org/officeDocument/2006/relationships/image" Target="../media/image101.png"/><Relationship Id="rId18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Relationship Id="rId8" Type="http://schemas.openxmlformats.org/officeDocument/2006/relationships/image" Target="../media/image107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Relationship Id="rId15" Type="http://schemas.openxmlformats.org/officeDocument/2006/relationships/image" Target="../media/image114.png"/><Relationship Id="rId16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695825"/>
            <a:ext cx="11220450" cy="1676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81025"/>
            <a:ext cx="3305323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348" y="581025"/>
            <a:ext cx="1204912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200650"/>
            <a:ext cx="35433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4350" y="5200650"/>
            <a:ext cx="35433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0" y="5200650"/>
            <a:ext cx="35433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753100"/>
            <a:ext cx="35433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4350" y="5753100"/>
            <a:ext cx="35433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0" y="5753100"/>
            <a:ext cx="35433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5286375"/>
            <a:ext cx="285750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8175" y="5286375"/>
            <a:ext cx="28575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6725" y="5286375"/>
            <a:ext cx="285750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5838825"/>
            <a:ext cx="2857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8175" y="5838825"/>
            <a:ext cx="285750" cy="285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6725" y="5838825"/>
            <a:ext cx="285750" cy="28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990600"/>
            <a:ext cx="11706225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0" sz="3450" i="0" u="none">
                <a:solidFill>
                  <a:srgbClr val="0F172A"/>
                </a:solidFill>
                <a:latin typeface="Inter ExtraBold"/>
              </a:rPr>
              <a:t>CIFAR-10 Image Classification</a:t>
            </a:r>
            <a:r>
              <a:t>
</a:t>
            </a:r>
            <a:r>
              <a:rPr b="0" sz="3450" i="0" u="none">
                <a:solidFill>
                  <a:srgbClr val="0F172A"/>
                </a:solidFill>
                <a:latin typeface="Inter ExtraBold"/>
              </a:rPr>
              <a:t> Using Convolutional Neural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2112466"/>
            <a:ext cx="857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Deep Learning pipeline implementation using TensorFlow &amp; Keras for multi-class image recognition and model evaluation.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1275" y="4857750"/>
            <a:ext cx="8924925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Inter"/>
              </a:rPr>
              <a:t> Project Team Members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64748B"/>
                </a:solidFill>
                <a:latin typeface="Inter Medium"/>
              </a:rPr>
              <a:t>Department of AI &amp; Data Science | Date: 31.08.2026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076825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8225" y="4857750"/>
            <a:ext cx="28479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 Medium"/>
              </a:rPr>
              <a:t>Department of AI &amp; Data Science | Date: 31.08.2026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" y="652462"/>
            <a:ext cx="131564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29223" y="652462"/>
            <a:ext cx="109537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872037"/>
            <a:ext cx="152400" cy="1143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90625" y="5288309"/>
            <a:ext cx="80962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ABINAND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25" y="5436840"/>
            <a:ext cx="8096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9175" y="5288309"/>
            <a:ext cx="92392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AKARSH PREM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9175" y="5436840"/>
            <a:ext cx="92392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VML24AD014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725" y="5288309"/>
            <a:ext cx="14382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ANNLIA JISHA RAJEEV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725" y="5436840"/>
            <a:ext cx="14382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VML24AD031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0625" y="5840759"/>
            <a:ext cx="876300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DENZ JOSEPH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" y="5989290"/>
            <a:ext cx="8763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VML24AD044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9175" y="5840759"/>
            <a:ext cx="742950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JISTO JOSE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9175" y="5989290"/>
            <a:ext cx="7429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VML24AD065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725" y="5840759"/>
            <a:ext cx="1247775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70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SHRIYA SREEJEESH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725" y="5989290"/>
            <a:ext cx="12477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0284C7"/>
                </a:solidFill>
                <a:latin typeface="JetBrains Mono SemiBold"/>
              </a:rPr>
              <a:t>VML24AD108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85850"/>
            <a:ext cx="5491162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085850"/>
            <a:ext cx="5491162" cy="5381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686425"/>
            <a:ext cx="5091112" cy="581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7" y="5686425"/>
            <a:ext cx="5091112" cy="58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2437"/>
            <a:ext cx="242887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5112" y="452437"/>
            <a:ext cx="1281112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285875"/>
            <a:ext cx="5345668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Primary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5791200"/>
            <a:ext cx="4805362" cy="371475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Key Outcome:</a:t>
            </a:r>
            <a:r>
              <a:rPr b="0" sz="975" i="0" u="none">
                <a:solidFill>
                  <a:srgbClr val="0369A1"/>
                </a:solidFill>
                <a:latin typeface="Inter"/>
              </a:rPr>
              <a:t> Achieving automated visual feature extraction without manual feature engineering.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087" y="1285875"/>
            <a:ext cx="5345668" cy="20002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C3AED"/>
                </a:solidFill>
                <a:latin typeface="Inter"/>
              </a:rPr>
              <a:t>Evaluation &amp; Experimentation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5791200"/>
            <a:ext cx="4805362" cy="371475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975" i="0" u="none">
                <a:solidFill>
                  <a:srgbClr val="0F172A"/>
                </a:solidFill>
                <a:latin typeface="Inter"/>
              </a:rPr>
              <a:t>Comparative Study:</a:t>
            </a:r>
            <a:r>
              <a:rPr b="0" sz="975" i="0" u="none">
                <a:solidFill>
                  <a:srgbClr val="6B21A8"/>
                </a:solidFill>
                <a:latin typeface="Inter"/>
              </a:rPr>
              <a:t> Benchmark Basic CNN against Augmented CNN architecture.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30492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50" y="160020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Develop a robust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Convolutional Neural Network (CNN)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model to automatically categorize RGB color images.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14312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Classify test images into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10 distinct object categories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from the benchmark CIFAR-10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268605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Implement an end-to-end Machine Learning pipeline in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Python using TensorFlow and Keras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322897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Perform data preprocessing including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pixel normalization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label categorical encoding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5819775"/>
            <a:ext cx="1238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1304925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62737" y="1600200"/>
            <a:ext cx="484346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Monitor training and validation metrics across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20 training epochs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37" y="1928812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Evaluate overall performance using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Categorical Crossentropy Loss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and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Test Accuracy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37" y="2471737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Generate a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10x10 Confusion Matrix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to analyze actual vs. predicted class distributions.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2737" y="3014662"/>
            <a:ext cx="484346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Compute comprehensive class-wise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Precision, Recall, and F1-Scores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737" y="334327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Conduct experimental trial with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Data Augmentation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to study generalization impact.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7962" y="5819775"/>
            <a:ext cx="123825" cy="1238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2962" y="390525"/>
            <a:ext cx="11349037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Project Objective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1619250"/>
            <a:ext cx="857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162175"/>
            <a:ext cx="8572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705100"/>
            <a:ext cx="857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248025"/>
            <a:ext cx="857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1619250"/>
            <a:ext cx="8572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1947862"/>
            <a:ext cx="857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2490787"/>
            <a:ext cx="857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3033712"/>
            <a:ext cx="857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5087" y="3362325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089" y="1085850"/>
            <a:ext cx="4942135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85850"/>
            <a:ext cx="6040189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2819400"/>
            <a:ext cx="6040189" cy="2200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71625"/>
            <a:ext cx="1816447" cy="904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7497" y="1571625"/>
            <a:ext cx="1816596" cy="904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9343" y="1571625"/>
            <a:ext cx="1816596" cy="904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4114" y="1590675"/>
            <a:ext cx="832098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1462" y="1590675"/>
            <a:ext cx="832246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8959" y="1590675"/>
            <a:ext cx="832246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46456" y="1590675"/>
            <a:ext cx="832246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73953" y="1590675"/>
            <a:ext cx="832098" cy="323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64114" y="2009775"/>
            <a:ext cx="832098" cy="3238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91462" y="2009775"/>
            <a:ext cx="832246" cy="3238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18959" y="2009775"/>
            <a:ext cx="832246" cy="323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6456" y="2009775"/>
            <a:ext cx="832246" cy="3238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73953" y="2009775"/>
            <a:ext cx="832098" cy="323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5775" y="452437"/>
            <a:ext cx="214312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29837" y="452437"/>
            <a:ext cx="1576387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1285875"/>
            <a:ext cx="5922146" cy="1905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Dataset Statistics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19425"/>
            <a:ext cx="5922146" cy="1905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59669"/>
                </a:solidFill>
                <a:latin typeface="Inter"/>
              </a:rPr>
              <a:t>Preprocessing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4114" y="1285875"/>
            <a:ext cx="4769189" cy="19050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10 Target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4114" y="6110287"/>
            <a:ext cx="454208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Representative 32x32 color samples from CIFAR-10 benchmark dataset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5800" y="1304925"/>
            <a:ext cx="1714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5800" y="3038475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33450" y="3305175"/>
            <a:ext cx="539248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Pixel Normalization: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Scaled pixel color intensities from range 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[0, 255]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down to float values 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[0.0, 1.0]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via division by 255.0 to accelerate convergence.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450" y="4062412"/>
            <a:ext cx="539248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Label Encoding: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Converted 1D integer class targets </a:t>
            </a:r>
            <a:r>
              <a:rPr b="0" sz="1125" i="0" u="none">
                <a:solidFill>
                  <a:srgbClr val="7C3AED"/>
                </a:solidFill>
                <a:latin typeface="Inter"/>
              </a:rPr>
              <a:t>(shape: 50000, 1)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into 10D One-Hot Encoded vectors </a:t>
            </a:r>
            <a:r>
              <a:rPr b="0" sz="1125" i="0" u="none">
                <a:solidFill>
                  <a:srgbClr val="7C3AED"/>
                </a:solidFill>
                <a:latin typeface="Inter"/>
              </a:rPr>
              <a:t>(shape: 50000, 10)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using </a:t>
            </a:r>
            <a:r>
              <a:rPr b="0" sz="1125" i="0" u="none">
                <a:solidFill>
                  <a:srgbClr val="7C3AED"/>
                </a:solidFill>
                <a:latin typeface="Inter"/>
              </a:rPr>
              <a:t>to_categorical()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64114" y="1304925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64114" y="4729162"/>
            <a:ext cx="4542085" cy="1333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66775" y="1752600"/>
            <a:ext cx="14544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50K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75" y="2152650"/>
            <a:ext cx="145449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TRAIN SAMPLES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8472" y="1752600"/>
            <a:ext cx="145464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10K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8472" y="2152650"/>
            <a:ext cx="145464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TEST SAMPLES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318" y="1752600"/>
            <a:ext cx="145464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32×32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90318" y="2152650"/>
            <a:ext cx="145464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3-CHANNEL RGB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37189" y="1690687"/>
            <a:ext cx="142875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74223" y="1690687"/>
            <a:ext cx="123825" cy="1238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11245" y="1690687"/>
            <a:ext cx="152400" cy="1238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57792" y="1690687"/>
            <a:ext cx="142875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56565" y="1690687"/>
            <a:ext cx="123825" cy="1238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69460" y="2109787"/>
            <a:ext cx="142875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54095" y="2109787"/>
            <a:ext cx="142875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933979" y="2109787"/>
            <a:ext cx="142875" cy="12382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14387" y="390525"/>
            <a:ext cx="1137761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Dataset &amp; Preprocessing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5800" y="3324225"/>
            <a:ext cx="85725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5800" y="4081462"/>
            <a:ext cx="8572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161014" y="2109787"/>
            <a:ext cx="142875" cy="12382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813702" y="2109787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85850"/>
            <a:ext cx="6863953" cy="333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495425"/>
            <a:ext cx="6863953" cy="333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905000"/>
            <a:ext cx="6863953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14575"/>
            <a:ext cx="6863953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724150"/>
            <a:ext cx="6863953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3133725"/>
            <a:ext cx="6863953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543300"/>
            <a:ext cx="6863953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3952875"/>
            <a:ext cx="6863953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4362450"/>
            <a:ext cx="6863953" cy="333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7853" y="1609725"/>
            <a:ext cx="4118371" cy="126206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7853" y="3014662"/>
            <a:ext cx="4118371" cy="2928937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2437"/>
            <a:ext cx="309562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5075" y="452437"/>
            <a:ext cx="1581150" cy="247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7225" y="117157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95475" y="1181100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Shape: (32, 32, 3) RGB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2853" y="1176337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0 Params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1581150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Conv2D_1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95475" y="1590675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32 Filters (3x3), ReLU 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2853" y="1585912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896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199072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MaxPool_1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5475" y="2000250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Pool Size (2,2) → Output (15, 15, 32) + Dropout (25%)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2853" y="1995487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0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2400300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Conv2D_2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5475" y="2409825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64 Filters (3x3), ReLU Activation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82853" y="2405062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18,496 Params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80987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MaxPool_2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5475" y="2819400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Pool Size (2,2) → Output (6, 6, 64) + Dropout (25%)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2853" y="2814637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0 Params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225" y="3219450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Conv2D_3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5475" y="3228975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64 Filters (3x3), ReLU Activation → Output (4, 4, 64)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82853" y="3224212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36,928 Params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25" y="362902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Flatten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5475" y="3638550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Feature Map Vectorization → 1,024 Neurons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2853" y="3633787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0 Params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225" y="4038600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Dense_1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95475" y="4048125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64 FC Neurons, ReLU Activation + Dropout (50%)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2853" y="4043362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65,600 Params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" y="444817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5475" y="4457700"/>
            <a:ext cx="378737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Inter"/>
              </a:rPr>
              <a:t>10 Neurons, Softmax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2853" y="4452937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369A1"/>
                </a:solidFill>
                <a:latin typeface="JetBrains Mono SemiBold"/>
              </a:rPr>
              <a:t>650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25978" y="1847850"/>
            <a:ext cx="364212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b="0" sz="2850" i="0" u="none">
                <a:solidFill>
                  <a:srgbClr val="0284C7"/>
                </a:solidFill>
                <a:latin typeface="JetBrains Mono ExtraBold"/>
              </a:rPr>
              <a:t>122,570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25978" y="2266950"/>
            <a:ext cx="364212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0369A1"/>
                </a:solidFill>
                <a:latin typeface="Inter SemiBold"/>
              </a:rPr>
              <a:t>TOTAL TRAINABLE PARAMETERS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5978" y="2476500"/>
            <a:ext cx="3642121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Model Memory Footprint: ~478.79 KB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87878" y="3214687"/>
            <a:ext cx="3904237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3AED"/>
                </a:solidFill>
                <a:latin typeface="Inter"/>
              </a:rPr>
              <a:t>Key Design Principles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7878" y="3233737"/>
            <a:ext cx="142875" cy="1428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035528" y="3471862"/>
            <a:ext cx="3470671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Feature Learning: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Progressive filter growth (32 → 64 → 64) captures low to high-level visual features.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35528" y="4229100"/>
            <a:ext cx="3470671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Regularization: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Strategic Dropout layers (25% post-pooling, 50% post-dense) reduce overfitting risk.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35528" y="4986337"/>
            <a:ext cx="3470671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Dimension Reduction: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Max-pooling reduces spatial dimensions while preserving dominant feature maps.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637" y="390525"/>
            <a:ext cx="1128236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CNN Model Architecture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878" y="3490912"/>
            <a:ext cx="85725" cy="1428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878" y="4248150"/>
            <a:ext cx="85725" cy="1428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7878" y="5005387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298" y="1085850"/>
            <a:ext cx="6314926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85850"/>
            <a:ext cx="4667398" cy="2152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381375"/>
            <a:ext cx="4667398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2437"/>
            <a:ext cx="242887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10862" y="452437"/>
            <a:ext cx="995362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91323" y="1285875"/>
            <a:ext cx="6210619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Accuracy Trajectory (Notebook Plot)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8223" y="6124575"/>
            <a:ext cx="404797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2563EB"/>
                </a:solidFill>
                <a:latin typeface="Inter SemiBold"/>
              </a:rPr>
              <a:t> Training Accuracy (68.31%)</a:t>
            </a:r>
            <a:r>
              <a:rPr b="0" sz="900" i="0" u="none">
                <a:solidFill>
                  <a:srgbClr val="1E293B"/>
                </a:solidFill>
                <a:latin typeface="Inter"/>
              </a:rPr>
              <a:t> </a:t>
            </a:r>
            <a:r>
              <a:rPr b="0" sz="900" i="0" u="none">
                <a:solidFill>
                  <a:srgbClr val="0D9488"/>
                </a:solidFill>
                <a:latin typeface="Inter SemiBold"/>
              </a:rPr>
              <a:t> Validation Accuracy (71.05%)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85875"/>
            <a:ext cx="4480716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Training Setup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62100"/>
          <a:ext cx="4267348" cy="1476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89943"/>
                <a:gridCol w="2577405"/>
              </a:tblGrid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Optimizer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Adam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Loss 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Categorical Crossentropy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Batch Size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Validation Split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20%</a:t>
                      </a:r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 (10,000 samples)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Epochs Trained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20 Epochs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4375" y="3581400"/>
            <a:ext cx="4450712" cy="18097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Key Training Milestones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323" y="1304925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304925"/>
            <a:ext cx="142875" cy="1428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85800" y="1843087"/>
            <a:ext cx="168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5743" y="1843087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600450"/>
            <a:ext cx="16192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2025" y="3838575"/>
            <a:ext cx="3991123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Epoch 1: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Val Accuracy = 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46.96%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| Val Loss = 1.4673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4167187"/>
            <a:ext cx="3991123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Epoch 10: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Val Accuracy = 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67.09%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| Val Loss = 0.9335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495800"/>
            <a:ext cx="3991123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Epoch 20 (Final):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Val Accuracy: </a:t>
            </a:r>
            <a:r>
              <a:rPr b="1" sz="1125" i="0" u="none">
                <a:solidFill>
                  <a:srgbClr val="059669"/>
                </a:solidFill>
                <a:latin typeface="Inter"/>
              </a:rPr>
              <a:t>71.05%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Training Accuracy: </a:t>
            </a:r>
            <a:r>
              <a:rPr b="1" sz="1125" i="0" u="none">
                <a:solidFill>
                  <a:srgbClr val="0284C7"/>
                </a:solidFill>
                <a:latin typeface="Inter"/>
              </a:rPr>
              <a:t>68.31%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Validation Loss: </a:t>
            </a:r>
            <a:r>
              <a:rPr b="1" sz="1125" i="0" u="none">
                <a:solidFill>
                  <a:srgbClr val="475569"/>
                </a:solidFill>
                <a:latin typeface="Inter"/>
              </a:rPr>
              <a:t>0.8353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3700" y="6143625"/>
            <a:ext cx="10477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6143625"/>
            <a:ext cx="104775" cy="1143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138362"/>
            <a:ext cx="168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5743" y="2138362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2433637"/>
            <a:ext cx="168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5743" y="2433637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2728912"/>
            <a:ext cx="168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5743" y="2728912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3024187"/>
            <a:ext cx="16899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75743" y="3024187"/>
            <a:ext cx="25774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2962" y="390525"/>
            <a:ext cx="11349037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Model Training Progression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3857625"/>
            <a:ext cx="857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186237"/>
            <a:ext cx="857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4375" y="4514850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85850"/>
            <a:ext cx="2697956" cy="923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606" y="1085850"/>
            <a:ext cx="2697956" cy="923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1085850"/>
            <a:ext cx="2697956" cy="923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8268" y="1085850"/>
            <a:ext cx="2697956" cy="923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2162175"/>
            <a:ext cx="6589365" cy="430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3265" y="2162175"/>
            <a:ext cx="4392959" cy="962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3265" y="3267075"/>
            <a:ext cx="4392959" cy="962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452437"/>
            <a:ext cx="214312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1725" y="452437"/>
            <a:ext cx="171450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750" y="1285875"/>
            <a:ext cx="23360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70.11%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1685925"/>
            <a:ext cx="233600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TEST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7581" y="1285875"/>
            <a:ext cx="23360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0.8563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7581" y="1685925"/>
            <a:ext cx="233600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TEST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8412" y="1285875"/>
            <a:ext cx="23360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0.70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8412" y="1685925"/>
            <a:ext cx="233600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MACRO F1-SCORE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243" y="1285875"/>
            <a:ext cx="233600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2700" i="0" u="none">
                <a:solidFill>
                  <a:srgbClr val="0284C7"/>
                </a:solidFill>
                <a:latin typeface="JetBrains Mono ExtraBold"/>
              </a:rPr>
              <a:t>10,000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243" y="1685925"/>
            <a:ext cx="233600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TEST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362200"/>
            <a:ext cx="6498780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Class-Wise Classification Report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2619375"/>
          <a:ext cx="6189312" cy="329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59160"/>
                <a:gridCol w="1596925"/>
                <a:gridCol w="1239440"/>
                <a:gridCol w="1493787"/>
              </a:tblGrid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Class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F1-Score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Automobile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Truck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Ship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Frog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Horse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Airplane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0.73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Deer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Dog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</a:tr>
              <a:tr h="299604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Bird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</a:tr>
              <a:tr h="299610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Cat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0.46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0.50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</a:tr>
            </a:tbl>
          </a:graphicData>
        </a:graphic>
      </p:graphicFrame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381250"/>
            <a:ext cx="142875" cy="1428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933700"/>
            <a:ext cx="185916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44960" y="2933700"/>
            <a:ext cx="159692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41886" y="2933700"/>
            <a:ext cx="123944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81327" y="2933700"/>
            <a:ext cx="1493787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1865" y="2362200"/>
            <a:ext cx="4162551" cy="1619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High Performing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1865" y="2581275"/>
            <a:ext cx="396433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0F172A"/>
                </a:solidFill>
                <a:latin typeface="Inter"/>
              </a:rPr>
              <a:t>Vehicles (Automobile, Truck, Ship):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 Distinct geometric edges and linear shapes enable high precision (&gt;80%).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1865" y="3467100"/>
            <a:ext cx="4162551" cy="1619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Inter"/>
              </a:rPr>
              <a:t>Challenging Classes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1865" y="3686175"/>
            <a:ext cx="396433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0F172A"/>
                </a:solidFill>
                <a:latin typeface="Inter"/>
              </a:rPr>
              <a:t>Animals (Cat, Bird, Dog):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 High intra-class variance and background ambiguity lead to lower F1-scores (0.50 - 0.59).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324326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44960" y="3243262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1886" y="3243262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81327" y="324326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353853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44960" y="3538537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41886" y="3538537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381327" y="353853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383381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44960" y="3833812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41886" y="3833812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81327" y="383381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412908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44960" y="4129087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41886" y="4129087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381327" y="412908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442436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44960" y="4424362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41886" y="4424362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81327" y="442436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471963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44960" y="4719637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41886" y="4719637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81327" y="471963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" y="501491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44960" y="5014912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41886" y="5014912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81327" y="501491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5800" y="531018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44960" y="5310187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41886" y="5310187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81327" y="531018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5800" y="5605462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44960" y="5605462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41886" y="5605462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81327" y="5605462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800" y="5900737"/>
            <a:ext cx="18591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544960" y="5900737"/>
            <a:ext cx="15969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41886" y="5900737"/>
            <a:ext cx="123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81327" y="5900737"/>
            <a:ext cx="14937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1865" y="2381250"/>
            <a:ext cx="133350" cy="1333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1865" y="3486150"/>
            <a:ext cx="133350" cy="13335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14387" y="390525"/>
            <a:ext cx="1137761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Basic CNN Performance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85850"/>
            <a:ext cx="5491162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085850"/>
            <a:ext cx="5491162" cy="5381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19500"/>
            <a:ext cx="5091112" cy="5381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087" y="3077765"/>
            <a:ext cx="2497931" cy="93106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8268" y="3077765"/>
            <a:ext cx="2497931" cy="9310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5087" y="5905500"/>
            <a:ext cx="972442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4680" y="5905500"/>
            <a:ext cx="972442" cy="361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4273" y="5905500"/>
            <a:ext cx="972591" cy="361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4015" y="5905500"/>
            <a:ext cx="972442" cy="3619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3608" y="5905500"/>
            <a:ext cx="972442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" y="452437"/>
            <a:ext cx="242887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452437"/>
            <a:ext cx="1343025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1285875"/>
            <a:ext cx="5345668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Misclassification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087" y="1285875"/>
            <a:ext cx="5345668" cy="18097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Sample Prediction Outcomes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1304925"/>
            <a:ext cx="14287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3450" y="156210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Cat vs. Dog Confusion: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E11D48"/>
                </a:solidFill>
                <a:latin typeface="Inter"/>
              </a:rPr>
              <a:t>140 Actual Cats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misclassified as Dogs; </a:t>
            </a:r>
            <a:r>
              <a:rPr b="0" sz="1125" i="0" u="none">
                <a:solidFill>
                  <a:srgbClr val="E11D48"/>
                </a:solidFill>
                <a:latin typeface="Inter"/>
              </a:rPr>
              <a:t>180 Actual Dogs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misclassified as Cats due to shared body structures.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450" y="210502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Cat vs. Bird / Frog: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151 Cat images predicted as Birds, 104 as Frogs due to low-resolution texture overlaps.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2647950"/>
            <a:ext cx="4843462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High Vehicle Accuracy: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852 / 1000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Ships correctly predicted.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819 / 1000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Automobiles correctly predicted. 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•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813 / 1000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Trucks correctly predicted.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575" y="3724275"/>
            <a:ext cx="4881562" cy="328612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0F172A"/>
                </a:solidFill>
                <a:latin typeface="Inter"/>
              </a:rPr>
              <a:t>Key Takeaway:</a:t>
            </a:r>
            <a:r>
              <a:rPr b="0" sz="862" i="0" u="none">
                <a:solidFill>
                  <a:srgbClr val="0369A1"/>
                </a:solidFill>
                <a:latin typeface="Inter"/>
              </a:rPr>
              <a:t> Model excels at structural object recognition but struggles with fine-grained animal features at 32x32 resolution.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5087" y="1304925"/>
            <a:ext cx="161925" cy="1428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15087" y="5667375"/>
            <a:ext cx="26289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Inter SemiBold"/>
              </a:rPr>
              <a:t>CONFUSION MATRIX HIGHLIGHTS (SAMPLE COUNT)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3752850"/>
            <a:ext cx="85725" cy="1095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9862" y="3230165"/>
            <a:ext cx="121920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47857"/>
                </a:solidFill>
                <a:latin typeface="Inter"/>
              </a:rPr>
              <a:t>CORRECT 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862" y="3575446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Ship → Pred: </a:t>
            </a:r>
            <a:r>
              <a:rPr b="1" sz="862" i="0" u="none">
                <a:solidFill>
                  <a:srgbClr val="0F172A"/>
                </a:solidFill>
                <a:latin typeface="Inter"/>
              </a:rPr>
              <a:t>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862" y="3739753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Frog → Pred: </a:t>
            </a:r>
            <a:r>
              <a:rPr b="1" sz="862" i="0" u="none">
                <a:solidFill>
                  <a:srgbClr val="0F172A"/>
                </a:solidFill>
                <a:latin typeface="Inter"/>
              </a:rPr>
              <a:t>Frog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3043" y="3411140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Airplane → Pred: </a:t>
            </a:r>
            <a:r>
              <a:rPr b="1" sz="862" i="0" u="none">
                <a:solidFill>
                  <a:srgbClr val="E11D48"/>
                </a:solidFill>
                <a:latin typeface="Inter"/>
              </a:rPr>
              <a:t>Deer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3043" y="3575446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Dog → Pred: </a:t>
            </a:r>
            <a:r>
              <a:rPr b="1" sz="862" i="0" u="none">
                <a:solidFill>
                  <a:srgbClr val="E11D48"/>
                </a:solidFill>
                <a:latin typeface="Inter"/>
              </a:rPr>
              <a:t>Deer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3043" y="3739753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Dog → Pred: </a:t>
            </a:r>
            <a:r>
              <a:rPr b="1" sz="862" i="0" u="none">
                <a:solidFill>
                  <a:srgbClr val="E11D48"/>
                </a:solidFill>
                <a:latin typeface="Inter"/>
              </a:rPr>
              <a:t>Cat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962" y="390525"/>
            <a:ext cx="11349037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Confusion Matrix &amp; Predictions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1581150"/>
            <a:ext cx="857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2124075"/>
            <a:ext cx="857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2667000"/>
            <a:ext cx="85725" cy="1428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19862" y="3411140"/>
            <a:ext cx="2288381" cy="1643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0" sz="862" i="0" u="none">
                <a:solidFill>
                  <a:srgbClr val="0F172A"/>
                </a:solidFill>
                <a:latin typeface="Inter"/>
              </a:rPr>
              <a:t>• Actual: Cat → Pred: </a:t>
            </a:r>
            <a:r>
              <a:rPr b="1" sz="862" i="0" u="none">
                <a:solidFill>
                  <a:srgbClr val="0F172A"/>
                </a:solidFill>
                <a:latin typeface="Inter"/>
              </a:rPr>
              <a:t>Cat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3043" y="3230165"/>
            <a:ext cx="1323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BE123C"/>
                </a:solidFill>
                <a:latin typeface="Inter"/>
              </a:rPr>
              <a:t>INCORRECT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089" y="1085850"/>
            <a:ext cx="4942135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85850"/>
            <a:ext cx="6040189" cy="2133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3362325"/>
            <a:ext cx="6040189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4114" y="5729287"/>
            <a:ext cx="4542085" cy="5381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452437"/>
            <a:ext cx="271462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6037" y="452437"/>
            <a:ext cx="1500187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285875"/>
            <a:ext cx="5922146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C3AED"/>
                </a:solidFill>
                <a:latin typeface="Inter"/>
              </a:rPr>
              <a:t>Augmentation Parameters (`ImageDataGenerator`)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" y="1543050"/>
          <a:ext cx="5640139" cy="1476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71341"/>
                <a:gridCol w="2768798"/>
              </a:tblGrid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Rotation Range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±15 Degrees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Width Shift Range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10% (0.1)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Height Shift Range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10% (0.1)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Horizontal Flip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334155"/>
                          </a:solidFill>
                          <a:latin typeface="Inter"/>
                        </a:rPr>
                        <a:t>True (Enabled)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Fill Mode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Nearest Neighbor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85800" y="3562350"/>
            <a:ext cx="5922146" cy="180975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Experimental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114" y="1285875"/>
            <a:ext cx="4769189" cy="180975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Augmented Image Transformations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4114" y="1562100"/>
            <a:ext cx="454208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Visual transformations generated from training batch samples (rotations, shifts, flips):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889" y="5834062"/>
            <a:ext cx="4332535" cy="328612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b="1" sz="862" i="0" u="none">
                <a:solidFill>
                  <a:srgbClr val="0F172A"/>
                </a:solidFill>
                <a:latin typeface="Inter"/>
              </a:rPr>
              <a:t>Goal:</a:t>
            </a:r>
            <a:r>
              <a:rPr b="0" sz="862" i="0" u="none">
                <a:solidFill>
                  <a:srgbClr val="6B21A8"/>
                </a:solidFill>
                <a:latin typeface="Inter"/>
              </a:rPr>
              <a:t> Evaluate if artificial variance improves generalization on unseen test samples without changing model capacity.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304925"/>
            <a:ext cx="142875" cy="1428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1824037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57141" y="1824037"/>
            <a:ext cx="276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581400"/>
            <a:ext cx="142875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50" y="3800475"/>
            <a:ext cx="539248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Trained a second model (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model_aug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) with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identical CNN architecture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(122,570 parameters).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50" y="4343400"/>
            <a:ext cx="539248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Generated transformed images dynamically on-the-fly using </a:t>
            </a:r>
            <a:r>
              <a:rPr b="0" sz="1125" i="0" u="none">
                <a:solidFill>
                  <a:srgbClr val="0284C7"/>
                </a:solidFill>
                <a:latin typeface="Inter"/>
              </a:rPr>
              <a:t>datagen.flow()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450" y="4672012"/>
            <a:ext cx="539248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Trained for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20 Epochs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with batch size of 64 using Adam optimizer.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64114" y="1304925"/>
            <a:ext cx="1619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8889" y="5862637"/>
            <a:ext cx="114300" cy="10953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85800" y="2119312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57141" y="2119312"/>
            <a:ext cx="276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2414587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57141" y="2414587"/>
            <a:ext cx="276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2709862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57141" y="2709862"/>
            <a:ext cx="276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005137"/>
            <a:ext cx="28713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57141" y="3005137"/>
            <a:ext cx="2768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9879" y="2114550"/>
            <a:ext cx="171450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68889" y="2324100"/>
            <a:ext cx="1253579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15° Rotation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5545" y="2114550"/>
            <a:ext cx="219075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08218" y="2324100"/>
            <a:ext cx="1253728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Width Shift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88835" y="2114550"/>
            <a:ext cx="171450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147696" y="2324100"/>
            <a:ext cx="1253728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475569"/>
                </a:solidFill>
                <a:latin typeface="Inter"/>
              </a:rPr>
              <a:t>Horiz Flip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1537" y="390525"/>
            <a:ext cx="1132046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Augmentation Trial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3819525"/>
            <a:ext cx="8572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362450"/>
            <a:ext cx="857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4691062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085850"/>
            <a:ext cx="5491162" cy="5381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1085850"/>
            <a:ext cx="5491162" cy="5381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462587"/>
            <a:ext cx="5091112" cy="8048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2437"/>
            <a:ext cx="242887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3150" y="452437"/>
            <a:ext cx="1743075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15087" y="1285875"/>
            <a:ext cx="5345668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Inter"/>
              </a:rPr>
              <a:t>Test Accuracy Visual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087" y="5953125"/>
            <a:ext cx="50911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Note: Data augmentation requires longer training epochs to fully converge under heavier regularization.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85875"/>
            <a:ext cx="5345668" cy="190500"/>
          </a:xfrm>
          <a:prstGeom prst="rect">
            <a:avLst/>
          </a:prstGeom>
          <a:noFill/>
        </p:spPr>
        <p:txBody>
          <a:bodyPr wrap="square" lIns="2000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284C7"/>
                </a:solidFill>
                <a:latin typeface="Inter"/>
              </a:rPr>
              <a:t>Performance Comparison Table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590675"/>
          <a:ext cx="5091111" cy="130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47304"/>
                <a:gridCol w="1175295"/>
                <a:gridCol w="1668512"/>
              </a:tblGrid>
              <a:tr h="32623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Inter"/>
                        </a:rPr>
                        <a:t>Model Variant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Inter"/>
                        </a:rPr>
                        <a:t>Test Loss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0F172A"/>
                          </a:solidFill>
                          <a:latin typeface="Inter"/>
                        </a:rPr>
                        <a:t>Test Accuracy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Basic CNN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0.8563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70.11%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CNN + Data Augmentation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0.9231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64748B"/>
                          </a:solidFill>
                          <a:latin typeface="Inter"/>
                        </a:rPr>
                        <a:t>67.71%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6232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Difference (Delta)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334155"/>
                          </a:solidFill>
                          <a:latin typeface="Inter"/>
                        </a:rPr>
                        <a:t>+0.0668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334155"/>
                          </a:solidFill>
                          <a:latin typeface="Inter"/>
                        </a:rPr>
                        <a:t>-2.40%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4E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9625" y="5586412"/>
            <a:ext cx="4843462" cy="185737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F172A"/>
                </a:solidFill>
                <a:latin typeface="Inter SemiBold"/>
              </a:rPr>
              <a:t>Experimental Observation: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800725"/>
            <a:ext cx="484346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475569"/>
                </a:solidFill>
                <a:latin typeface="Inter"/>
              </a:rPr>
              <a:t>The basic CNN performed better by approximately </a:t>
            </a:r>
            <a:r>
              <a:rPr b="1" sz="900" i="0" u="none">
                <a:solidFill>
                  <a:srgbClr val="0F172A"/>
                </a:solidFill>
                <a:latin typeface="Inter"/>
              </a:rPr>
              <a:t>2.40 percentage points</a:t>
            </a:r>
            <a:r>
              <a:rPr b="0" sz="900" i="0" u="none">
                <a:solidFill>
                  <a:srgbClr val="475569"/>
                </a:solidFill>
                <a:latin typeface="Inter"/>
              </a:rPr>
              <a:t> in this specific 20-epoch experiment.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5087" y="1295400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295400"/>
            <a:ext cx="200025" cy="1619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1905000"/>
            <a:ext cx="2247304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3104" y="1905000"/>
            <a:ext cx="1175295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08400" y="1905000"/>
            <a:ext cx="1668512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5614987"/>
            <a:ext cx="104775" cy="12382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85800" y="2252662"/>
            <a:ext cx="2247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33104" y="2252662"/>
            <a:ext cx="1175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08400" y="2252662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586037"/>
            <a:ext cx="2247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33104" y="2586037"/>
            <a:ext cx="1175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08400" y="2586037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2881312"/>
            <a:ext cx="22473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33104" y="2881312"/>
            <a:ext cx="1175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08400" y="2881312"/>
            <a:ext cx="166851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962" y="390525"/>
            <a:ext cx="11349037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Basic CNN vs Augmented CNN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5929312"/>
            <a:ext cx="11220450" cy="5381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1085850"/>
            <a:ext cx="5491162" cy="47291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1085850"/>
            <a:ext cx="5491162" cy="47291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452437"/>
            <a:ext cx="214312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9837" y="452437"/>
            <a:ext cx="1576387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091237"/>
            <a:ext cx="10820400" cy="214312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1" u="none">
                <a:solidFill>
                  <a:srgbClr val="0F172A"/>
                </a:solidFill>
                <a:latin typeface="Inter SemiBold"/>
              </a:rPr>
              <a:t> "The project demonstrates a complete image-classification pipeline from preprocessing and CNN training to evaluation and experimentation."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85875"/>
            <a:ext cx="5345668" cy="190500"/>
          </a:xfrm>
          <a:prstGeom prst="rect">
            <a:avLst/>
          </a:prstGeom>
          <a:noFill/>
        </p:spPr>
        <p:txBody>
          <a:bodyPr wrap="square" lIns="1619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284C7"/>
                </a:solidFill>
                <a:latin typeface="Inter"/>
              </a:rPr>
              <a:t>Project 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5087" y="1285875"/>
            <a:ext cx="5345668" cy="190500"/>
          </a:xfrm>
          <a:prstGeom prst="rect">
            <a:avLst/>
          </a:prstGeom>
          <a:noFill/>
        </p:spPr>
        <p:txBody>
          <a:bodyPr wrap="square" lIns="123825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7C3AED"/>
                </a:solidFill>
                <a:latin typeface="Inter"/>
              </a:rPr>
              <a:t>Future Improvements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" y="6119812"/>
            <a:ext cx="13335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0" y="6119812"/>
            <a:ext cx="1333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295400"/>
            <a:ext cx="161925" cy="1619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3450" y="157162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Successfully built an end-to-end TensorFlow/Keras pipeline for 10-class image classification.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211455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The Basic 3-Block CNN achieved a strong </a:t>
            </a:r>
            <a:r>
              <a:rPr b="1" sz="1125" i="0" u="none">
                <a:solidFill>
                  <a:srgbClr val="0F172A"/>
                </a:solidFill>
                <a:latin typeface="Inter"/>
              </a:rPr>
              <a:t>70.11% Test Accuracy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(0.8563 Loss) on 10,000 unseen test samples.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265747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Vehicle categories (Automobile, Ship, Truck) demonstrated highest classification precision (&gt;80%).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320040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Data augmentation trial (</a:t>
            </a:r>
            <a:r>
              <a:rPr b="0" sz="1125" i="0" u="none">
                <a:solidFill>
                  <a:srgbClr val="7C3AED"/>
                </a:solidFill>
                <a:latin typeface="Inter"/>
              </a:rPr>
              <a:t>67.71% accuracy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) produced lower accuracy within 20 epochs under current capacity.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5087" y="1295400"/>
            <a:ext cx="123825" cy="161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62737" y="157162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Architecture: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Add Batch Normalization layers and evaluate deeper Residual Networks (ResNet / MobileNet).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737" y="211455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Optimization: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Implement Learning Rate Decay (Cosine Annealing) &amp; automated hyperparameter tuning.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2737" y="2657475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Augmentation: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Fine-tune transformation ranges and train for longer epochs (50–100 epochs).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37" y="3200400"/>
            <a:ext cx="484346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F172A"/>
                </a:solidFill>
                <a:latin typeface="Inter"/>
              </a:rPr>
              <a:t>Transfer Learning: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 Leverage pre-trained ImageNet weights to boost accuracy above 90%.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387" y="390525"/>
            <a:ext cx="11377612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Conclusion &amp; Future Work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" y="876300"/>
            <a:ext cx="112204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1590675"/>
            <a:ext cx="857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133600"/>
            <a:ext cx="8572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2676525"/>
            <a:ext cx="857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219450"/>
            <a:ext cx="857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1590675"/>
            <a:ext cx="8572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133600"/>
            <a:ext cx="8572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2676525"/>
            <a:ext cx="857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5087" y="3219450"/>
            <a:ext cx="85725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